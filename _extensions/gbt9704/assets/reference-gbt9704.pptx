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5"/>
  </p:notesMasterIdLst>
  <p:sldIdLst>
    <p:sldId id="256" r:id="rId3"/>
    <p:sldId id="257" r:id="rId4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</p:sldIdLst>
  <p:sldSz cx="12191365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92" userDrawn="1">
          <p15:clr>
            <a:srgbClr val="A4A3A4"/>
          </p15:clr>
        </p15:guide>
        <p15:guide id="2" pos="287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 showGuides="1">
      <p:cViewPr varScale="1">
        <p:scale>
          <a:sx n="161" d="100"/>
          <a:sy n="161" d="100"/>
        </p:scale>
        <p:origin x="560" y="200"/>
      </p:cViewPr>
      <p:guideLst>
        <p:guide orient="horz" pos="1592"/>
        <p:guide pos="287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0" Type="http://schemas.openxmlformats.org/officeDocument/2006/relationships/tableStyles" Target="tableStyles.xml"/><Relationship Id="rId4" Type="http://schemas.openxmlformats.org/officeDocument/2006/relationships/slide" Target="slides/slide2.xml"/><Relationship Id="rId39" Type="http://schemas.openxmlformats.org/officeDocument/2006/relationships/viewProps" Target="viewProps.xml"/><Relationship Id="rId38" Type="http://schemas.openxmlformats.org/officeDocument/2006/relationships/presProps" Target="presProps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开场即预告”先讲故事、再讲形势、后讲方案”。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“这个故事发生在银行。但2026年，同样的事情正在国资国企领域发生。”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本页为第一部分收尾，重点落在”早做早主动”。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本页措辞重，语速放慢，给领导留消化时间。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本页承上启下，自然过渡到差距分析。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本页停住，进入问答；不要自己接着讲。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4" Type="http://schemas.openxmlformats.org/officeDocument/2006/relationships/image" Target="../media/image4.png"/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7"/>
          <p:cNvPicPr>
            <a:picLocks noChangeAspect="1"/>
          </p:cNvPicPr>
          <p:nvPr userDrawn="1"/>
        </p:nvPicPr>
        <p:blipFill>
          <a:blip r:embed="rId2"/>
          <a:srcRect t="18148"/>
          <a:stretch>
            <a:fillRect/>
          </a:stretch>
        </p:blipFill>
        <p:spPr>
          <a:xfrm>
            <a:off x="-635" y="0"/>
            <a:ext cx="12192000" cy="5613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8" name="AutoShape 18"/>
          <p:cNvSpPr/>
          <p:nvPr userDrawn="1"/>
        </p:nvSpPr>
        <p:spPr>
          <a:xfrm>
            <a:off x="-635" y="0"/>
            <a:ext cx="12192635" cy="68580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02060">
                  <a:alpha val="89000"/>
                </a:srgbClr>
              </a:gs>
              <a:gs pos="54000">
                <a:srgbClr val="0361B6">
                  <a:alpha val="52000"/>
                </a:srgbClr>
              </a:gs>
              <a:gs pos="100000">
                <a:srgbClr val="39A0FC">
                  <a:alpha val="68000"/>
                </a:srgbClr>
              </a:gs>
            </a:gsLst>
            <a:lin ang="540000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 dirty="0">
              <a:latin typeface="方正小标宋简体" panose="02010601030101010101" charset="-122"/>
              <a:ea typeface="方正小标宋简体" panose="02010601030101010101" charset="-122"/>
            </a:endParaRPr>
          </a:p>
        </p:txBody>
      </p:sp>
      <p:sp>
        <p:nvSpPr>
          <p:cNvPr id="19" name="AutoShape 19"/>
          <p:cNvSpPr/>
          <p:nvPr userDrawn="1"/>
        </p:nvSpPr>
        <p:spPr>
          <a:xfrm>
            <a:off x="0" y="5435600"/>
            <a:ext cx="12192000" cy="14224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 userDrawn="1"/>
        </p:nvPicPr>
        <p:blipFill>
          <a:blip r:embed="rId3"/>
          <a:srcRect/>
          <a:stretch>
            <a:fillRect/>
          </a:stretch>
        </p:blipFill>
        <p:spPr>
          <a:xfrm>
            <a:off x="3644900" y="5673725"/>
            <a:ext cx="4775200" cy="6223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3921" y="1322962"/>
            <a:ext cx="9143524" cy="2187001"/>
          </a:xfrm>
        </p:spPr>
        <p:txBody>
          <a:bodyPr anchor="b">
            <a:normAutofit/>
          </a:bodyPr>
          <a:lstStyle>
            <a:lvl1pPr algn="ctr">
              <a:defRPr sz="60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3921" y="3602038"/>
            <a:ext cx="9143524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bg1"/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666" y="258445"/>
            <a:ext cx="10515052" cy="1325563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666" y="1825625"/>
            <a:ext cx="10515052" cy="4351338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2"/>
          <p:cNvPicPr>
            <a:picLocks noChangeAspect="1"/>
          </p:cNvPicPr>
          <p:nvPr userDrawn="1"/>
        </p:nvPicPr>
        <p:blipFill>
          <a:blip r:embed="rId2">
            <a:alphaModFix amt="51000"/>
          </a:blip>
          <a:srcRect l="12264" t="25660" r="12264" b="641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4" name="AutoShape 3"/>
          <p:cNvSpPr/>
          <p:nvPr userDrawn="1"/>
        </p:nvSpPr>
        <p:spPr>
          <a:xfrm>
            <a:off x="0" y="-25400"/>
            <a:ext cx="12192000" cy="33274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FFFFFF">
                  <a:alpha val="10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5" name="Freeform 4"/>
          <p:cNvSpPr/>
          <p:nvPr userDrawn="1"/>
        </p:nvSpPr>
        <p:spPr>
          <a:xfrm>
            <a:off x="139700" y="25400"/>
            <a:ext cx="1181099" cy="630238"/>
          </a:xfrm>
          <a:custGeom>
            <a:avLst/>
            <a:gdLst/>
            <a:ahLst/>
            <a:cxnLst/>
            <a:rect l="l" t="t" r="r" b="b"/>
            <a:pathLst>
              <a:path w="1181099" h="630238">
                <a:moveTo>
                  <a:pt x="626160" y="0"/>
                </a:moveTo>
                <a:lnTo>
                  <a:pt x="1181099" y="0"/>
                </a:lnTo>
                <a:lnTo>
                  <a:pt x="546564" y="630238"/>
                </a:lnTo>
                <a:lnTo>
                  <a:pt x="0" y="630238"/>
                </a:lnTo>
                <a:close/>
              </a:path>
            </a:pathLst>
          </a:custGeom>
          <a:solidFill>
            <a:srgbClr val="39A0F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6" name="Freeform 5"/>
          <p:cNvSpPr/>
          <p:nvPr userDrawn="1"/>
        </p:nvSpPr>
        <p:spPr>
          <a:xfrm>
            <a:off x="139700" y="25400"/>
            <a:ext cx="1181070" cy="630286"/>
          </a:xfrm>
          <a:custGeom>
            <a:avLst/>
            <a:gdLst/>
            <a:ahLst/>
            <a:cxnLst/>
            <a:rect l="l" t="t" r="r" b="b"/>
            <a:pathLst>
              <a:path w="1181070" h="630286">
                <a:moveTo>
                  <a:pt x="626144" y="0"/>
                </a:moveTo>
                <a:lnTo>
                  <a:pt x="1181070" y="0"/>
                </a:lnTo>
                <a:lnTo>
                  <a:pt x="546550" y="630286"/>
                </a:lnTo>
                <a:lnTo>
                  <a:pt x="0" y="630286"/>
                </a:lnTo>
                <a:close/>
              </a:path>
            </a:pathLst>
          </a:custGeom>
          <a:gradFill rotWithShape="1">
            <a:gsLst>
              <a:gs pos="28999">
                <a:srgbClr val="024581">
                  <a:alpha val="100000"/>
                </a:srgbClr>
              </a:gs>
              <a:gs pos="56999">
                <a:srgbClr val="024581">
                  <a:alpha val="0"/>
                </a:srgbClr>
              </a:gs>
            </a:gsLst>
            <a:lin ang="270000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7" name="Freeform 6"/>
          <p:cNvSpPr/>
          <p:nvPr userDrawn="1"/>
        </p:nvSpPr>
        <p:spPr>
          <a:xfrm>
            <a:off x="0" y="-38100"/>
            <a:ext cx="2974975" cy="739775"/>
          </a:xfrm>
          <a:custGeom>
            <a:avLst/>
            <a:gdLst/>
            <a:ahLst/>
            <a:cxnLst/>
            <a:rect l="l" t="t" r="r" b="b"/>
            <a:pathLst>
              <a:path w="2974975" h="739775">
                <a:moveTo>
                  <a:pt x="0" y="0"/>
                </a:moveTo>
                <a:lnTo>
                  <a:pt x="2974975" y="0"/>
                </a:lnTo>
                <a:lnTo>
                  <a:pt x="2852475" y="121704"/>
                </a:lnTo>
                <a:lnTo>
                  <a:pt x="794817" y="121704"/>
                </a:lnTo>
                <a:lnTo>
                  <a:pt x="225863" y="739775"/>
                </a:lnTo>
                <a:lnTo>
                  <a:pt x="0" y="739775"/>
                </a:lnTo>
                <a:close/>
              </a:path>
            </a:pathLst>
          </a:custGeom>
          <a:solidFill>
            <a:srgbClr val="035CA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8" name="AutoShape 7"/>
          <p:cNvSpPr/>
          <p:nvPr userDrawn="1"/>
        </p:nvSpPr>
        <p:spPr>
          <a:xfrm flipV="1">
            <a:off x="0" y="-38100"/>
            <a:ext cx="393700" cy="393700"/>
          </a:xfrm>
          <a:prstGeom prst="rtTriangle">
            <a:avLst/>
          </a:prstGeom>
          <a:gradFill rotWithShape="0">
            <a:gsLst>
              <a:gs pos="0">
                <a:srgbClr val="FFFFFF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9" name="Freeform 8"/>
          <p:cNvSpPr/>
          <p:nvPr userDrawn="1"/>
        </p:nvSpPr>
        <p:spPr>
          <a:xfrm>
            <a:off x="0" y="-38100"/>
            <a:ext cx="606425" cy="252412"/>
          </a:xfrm>
          <a:custGeom>
            <a:avLst/>
            <a:gdLst/>
            <a:ahLst/>
            <a:cxnLst/>
            <a:rect l="l" t="t" r="r" b="b"/>
            <a:pathLst>
              <a:path w="606425" h="252412">
                <a:moveTo>
                  <a:pt x="0" y="0"/>
                </a:moveTo>
                <a:lnTo>
                  <a:pt x="606425" y="0"/>
                </a:lnTo>
                <a:lnTo>
                  <a:pt x="352259" y="252412"/>
                </a:lnTo>
                <a:lnTo>
                  <a:pt x="0" y="252412"/>
                </a:lnTo>
                <a:close/>
              </a:path>
            </a:pathLst>
          </a:custGeom>
          <a:gradFill rotWithShape="0">
            <a:gsLst>
              <a:gs pos="0">
                <a:srgbClr val="FFFFFF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0" name="Freeform 9"/>
          <p:cNvSpPr/>
          <p:nvPr userDrawn="1"/>
        </p:nvSpPr>
        <p:spPr>
          <a:xfrm>
            <a:off x="2032000" y="-38100"/>
            <a:ext cx="1012825" cy="555625"/>
          </a:xfrm>
          <a:custGeom>
            <a:avLst/>
            <a:gdLst/>
            <a:ahLst/>
            <a:cxnLst/>
            <a:rect l="l" t="t" r="r" b="b"/>
            <a:pathLst>
              <a:path w="1012825" h="555625">
                <a:moveTo>
                  <a:pt x="560114" y="0"/>
                </a:moveTo>
                <a:lnTo>
                  <a:pt x="746616" y="0"/>
                </a:lnTo>
                <a:lnTo>
                  <a:pt x="826323" y="0"/>
                </a:lnTo>
                <a:lnTo>
                  <a:pt x="1012825" y="0"/>
                </a:lnTo>
                <a:lnTo>
                  <a:pt x="452712" y="555625"/>
                </a:lnTo>
                <a:lnTo>
                  <a:pt x="266209" y="555625"/>
                </a:lnTo>
                <a:lnTo>
                  <a:pt x="186502" y="555625"/>
                </a:lnTo>
                <a:lnTo>
                  <a:pt x="0" y="555625"/>
                </a:lnTo>
                <a:close/>
              </a:path>
            </a:pathLst>
          </a:custGeom>
          <a:gradFill rotWithShape="0">
            <a:gsLst>
              <a:gs pos="0">
                <a:srgbClr val="035CAC">
                  <a:alpha val="15000"/>
                </a:srgbClr>
              </a:gs>
              <a:gs pos="100000">
                <a:srgbClr val="035CAC">
                  <a:alpha val="0"/>
                </a:srgbClr>
              </a:gs>
            </a:gsLst>
            <a:lin ang="540000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1" name="Freeform 10"/>
          <p:cNvSpPr/>
          <p:nvPr userDrawn="1"/>
        </p:nvSpPr>
        <p:spPr>
          <a:xfrm>
            <a:off x="2654300" y="-38100"/>
            <a:ext cx="671512" cy="447675"/>
          </a:xfrm>
          <a:custGeom>
            <a:avLst/>
            <a:gdLst/>
            <a:ahLst/>
            <a:cxnLst/>
            <a:rect l="l" t="t" r="r" b="b"/>
            <a:pathLst>
              <a:path w="671512" h="447675">
                <a:moveTo>
                  <a:pt x="450385" y="0"/>
                </a:moveTo>
                <a:lnTo>
                  <a:pt x="671512" y="0"/>
                </a:lnTo>
                <a:lnTo>
                  <a:pt x="221127" y="447675"/>
                </a:lnTo>
                <a:lnTo>
                  <a:pt x="0" y="447675"/>
                </a:lnTo>
                <a:close/>
              </a:path>
            </a:pathLst>
          </a:custGeom>
          <a:gradFill rotWithShape="0">
            <a:gsLst>
              <a:gs pos="0">
                <a:srgbClr val="035CAC">
                  <a:alpha val="15000"/>
                </a:srgbClr>
              </a:gs>
              <a:gs pos="100000">
                <a:srgbClr val="035CAC">
                  <a:alpha val="0"/>
                </a:srgbClr>
              </a:gs>
            </a:gsLst>
            <a:lin ang="540000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42" name="Connector 11"/>
          <p:cNvCxnSpPr/>
          <p:nvPr userDrawn="1"/>
        </p:nvCxnSpPr>
        <p:spPr>
          <a:xfrm>
            <a:off x="0" y="1016000"/>
            <a:ext cx="12192007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9D9D9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sp>
        <p:nvSpPr>
          <p:cNvPr id="43" name="AutoShape 12"/>
          <p:cNvSpPr/>
          <p:nvPr userDrawn="1"/>
        </p:nvSpPr>
        <p:spPr>
          <a:xfrm>
            <a:off x="11620500" y="774700"/>
            <a:ext cx="165100" cy="101600"/>
          </a:xfrm>
          <a:prstGeom prst="parallelogram">
            <a:avLst>
              <a:gd name="adj" fmla="val 25000"/>
            </a:avLst>
          </a:prstGeom>
          <a:solidFill>
            <a:srgbClr val="D9D9D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4" name="AutoShape 13"/>
          <p:cNvSpPr/>
          <p:nvPr userDrawn="1"/>
        </p:nvSpPr>
        <p:spPr>
          <a:xfrm>
            <a:off x="11455400" y="774700"/>
            <a:ext cx="165100" cy="101600"/>
          </a:xfrm>
          <a:prstGeom prst="parallelogram">
            <a:avLst>
              <a:gd name="adj" fmla="val 25000"/>
            </a:avLst>
          </a:prstGeom>
          <a:solidFill>
            <a:srgbClr val="035CA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5" name="AutoShape 14"/>
          <p:cNvSpPr/>
          <p:nvPr userDrawn="1"/>
        </p:nvSpPr>
        <p:spPr>
          <a:xfrm>
            <a:off x="11785600" y="774700"/>
            <a:ext cx="165100" cy="101600"/>
          </a:xfrm>
          <a:prstGeom prst="parallelogram">
            <a:avLst>
              <a:gd name="adj" fmla="val 25000"/>
            </a:avLst>
          </a:prstGeom>
          <a:solidFill>
            <a:srgbClr val="D9D9D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6" name="AutoShape 15"/>
          <p:cNvSpPr/>
          <p:nvPr userDrawn="1"/>
        </p:nvSpPr>
        <p:spPr>
          <a:xfrm>
            <a:off x="1104900" y="266700"/>
            <a:ext cx="10858500" cy="4699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t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从形式到内核，全方位透视两种重要党内政治生活形式的差异</a:t>
            </a:r>
            <a:endParaRPr lang="en-US" sz="1100"/>
          </a:p>
        </p:txBody>
      </p:sp>
      <p:pic>
        <p:nvPicPr>
          <p:cNvPr id="47" name="Picture 16"/>
          <p:cNvPicPr>
            <a:picLocks noChangeAspect="1"/>
          </p:cNvPicPr>
          <p:nvPr userDrawn="1"/>
        </p:nvPicPr>
        <p:blipFill>
          <a:blip r:embed="rId3"/>
          <a:srcRect/>
          <a:stretch>
            <a:fillRect/>
          </a:stretch>
        </p:blipFill>
        <p:spPr>
          <a:xfrm>
            <a:off x="9372600" y="406400"/>
            <a:ext cx="2590800" cy="3429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48" name="AutoShape 17"/>
          <p:cNvSpPr/>
          <p:nvPr userDrawn="1"/>
        </p:nvSpPr>
        <p:spPr>
          <a:xfrm>
            <a:off x="0" y="-48895"/>
            <a:ext cx="12192000" cy="6919595"/>
          </a:xfrm>
          <a:prstGeom prst="roundRect">
            <a:avLst>
              <a:gd name="adj" fmla="val 0"/>
            </a:avLst>
          </a:prstGeom>
          <a:gradFill rotWithShape="0">
            <a:gsLst>
              <a:gs pos="18000">
                <a:srgbClr val="FFFFFF">
                  <a:alpha val="100000"/>
                </a:srgbClr>
              </a:gs>
              <a:gs pos="100000">
                <a:srgbClr val="BDDFFE">
                  <a:alpha val="100000"/>
                </a:srgbClr>
              </a:gs>
            </a:gsLst>
            <a:lin ang="540000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9" name="Picture 18"/>
          <p:cNvPicPr>
            <a:picLocks noChangeAspect="1"/>
          </p:cNvPicPr>
          <p:nvPr userDrawn="1"/>
        </p:nvPicPr>
        <p:blipFill>
          <a:blip r:embed="rId4"/>
          <a:srcRect t="36523" b="10351"/>
          <a:stretch>
            <a:fillRect/>
          </a:stretch>
        </p:blipFill>
        <p:spPr>
          <a:xfrm>
            <a:off x="6350" y="1701800"/>
            <a:ext cx="12192000" cy="3454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50" name="AutoShape 19"/>
          <p:cNvSpPr/>
          <p:nvPr userDrawn="1"/>
        </p:nvSpPr>
        <p:spPr>
          <a:xfrm>
            <a:off x="6350" y="1701800"/>
            <a:ext cx="12192000" cy="34671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02060">
                  <a:alpha val="89000"/>
                </a:srgbClr>
              </a:gs>
              <a:gs pos="54000">
                <a:srgbClr val="0361B6">
                  <a:alpha val="52000"/>
                </a:srgbClr>
              </a:gs>
              <a:gs pos="100000">
                <a:srgbClr val="39A0FC">
                  <a:alpha val="68000"/>
                </a:srgbClr>
              </a:gs>
            </a:gsLst>
            <a:lin ang="540000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1" name="Freeform 20"/>
          <p:cNvSpPr/>
          <p:nvPr userDrawn="1"/>
        </p:nvSpPr>
        <p:spPr>
          <a:xfrm rot="10800000" flipV="1">
            <a:off x="6350" y="1041400"/>
            <a:ext cx="2994025" cy="576262"/>
          </a:xfrm>
          <a:custGeom>
            <a:avLst/>
            <a:gdLst/>
            <a:ahLst/>
            <a:cxnLst/>
            <a:rect l="l" t="t" r="r" b="b"/>
            <a:pathLst>
              <a:path w="2994025" h="576262">
                <a:moveTo>
                  <a:pt x="2994025" y="0"/>
                </a:moveTo>
                <a:lnTo>
                  <a:pt x="525145" y="0"/>
                </a:lnTo>
                <a:lnTo>
                  <a:pt x="0" y="576263"/>
                </a:lnTo>
                <a:lnTo>
                  <a:pt x="2994025" y="576263"/>
                </a:lnTo>
                <a:close/>
              </a:path>
            </a:pathLst>
          </a:custGeom>
          <a:gradFill rotWithShape="1">
            <a:gsLst>
              <a:gs pos="18000">
                <a:srgbClr val="035CAC">
                  <a:alpha val="100000"/>
                </a:srgbClr>
              </a:gs>
              <a:gs pos="100000">
                <a:srgbClr val="39A0FC">
                  <a:alpha val="100000"/>
                </a:srgbClr>
              </a:gs>
            </a:gsLst>
            <a:lin ang="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2" name="Freeform 21"/>
          <p:cNvSpPr/>
          <p:nvPr userDrawn="1"/>
        </p:nvSpPr>
        <p:spPr>
          <a:xfrm flipV="1">
            <a:off x="8686800" y="5245100"/>
            <a:ext cx="3498850" cy="576262"/>
          </a:xfrm>
          <a:custGeom>
            <a:avLst/>
            <a:gdLst/>
            <a:ahLst/>
            <a:cxnLst/>
            <a:rect l="l" t="t" r="r" b="b"/>
            <a:pathLst>
              <a:path w="3498850" h="576262">
                <a:moveTo>
                  <a:pt x="0" y="576262"/>
                </a:moveTo>
                <a:lnTo>
                  <a:pt x="3498850" y="576262"/>
                </a:lnTo>
                <a:lnTo>
                  <a:pt x="3498850" y="0"/>
                </a:lnTo>
                <a:lnTo>
                  <a:pt x="525240" y="0"/>
                </a:lnTo>
                <a:close/>
              </a:path>
            </a:pathLst>
          </a:custGeom>
          <a:gradFill rotWithShape="1">
            <a:gsLst>
              <a:gs pos="18000">
                <a:srgbClr val="035CAC">
                  <a:alpha val="100000"/>
                </a:srgbClr>
              </a:gs>
              <a:gs pos="100000">
                <a:srgbClr val="39A0FC">
                  <a:alpha val="100000"/>
                </a:srgbClr>
              </a:gs>
            </a:gsLst>
            <a:lin ang="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3" name="Freeform 22"/>
          <p:cNvSpPr/>
          <p:nvPr userDrawn="1"/>
        </p:nvSpPr>
        <p:spPr>
          <a:xfrm flipV="1">
            <a:off x="6350" y="5245100"/>
            <a:ext cx="9113838" cy="576262"/>
          </a:xfrm>
          <a:custGeom>
            <a:avLst/>
            <a:gdLst/>
            <a:ahLst/>
            <a:cxnLst/>
            <a:rect l="l" t="t" r="r" b="b"/>
            <a:pathLst>
              <a:path w="9113838" h="576262">
                <a:moveTo>
                  <a:pt x="0" y="576262"/>
                </a:moveTo>
                <a:lnTo>
                  <a:pt x="688999" y="576262"/>
                </a:lnTo>
                <a:lnTo>
                  <a:pt x="2273379" y="576262"/>
                </a:lnTo>
                <a:lnTo>
                  <a:pt x="2468331" y="576262"/>
                </a:lnTo>
                <a:lnTo>
                  <a:pt x="3425309" y="576262"/>
                </a:lnTo>
                <a:lnTo>
                  <a:pt x="4340376" y="576262"/>
                </a:lnTo>
                <a:lnTo>
                  <a:pt x="4937298" y="576262"/>
                </a:lnTo>
                <a:lnTo>
                  <a:pt x="5924757" y="576262"/>
                </a:lnTo>
                <a:lnTo>
                  <a:pt x="7076686" y="576262"/>
                </a:lnTo>
                <a:lnTo>
                  <a:pt x="8588675" y="576262"/>
                </a:lnTo>
                <a:lnTo>
                  <a:pt x="9113838" y="0"/>
                </a:lnTo>
                <a:lnTo>
                  <a:pt x="8976674" y="0"/>
                </a:lnTo>
                <a:lnTo>
                  <a:pt x="8516917" y="504468"/>
                </a:lnTo>
                <a:lnTo>
                  <a:pt x="7004929" y="504468"/>
                </a:lnTo>
                <a:lnTo>
                  <a:pt x="5852999" y="504468"/>
                </a:lnTo>
                <a:lnTo>
                  <a:pt x="4865540" y="504468"/>
                </a:lnTo>
                <a:lnTo>
                  <a:pt x="4268619" y="504468"/>
                </a:lnTo>
                <a:lnTo>
                  <a:pt x="3353552" y="504468"/>
                </a:lnTo>
                <a:lnTo>
                  <a:pt x="2396574" y="504468"/>
                </a:lnTo>
                <a:lnTo>
                  <a:pt x="2201621" y="504468"/>
                </a:lnTo>
                <a:lnTo>
                  <a:pt x="617242" y="504468"/>
                </a:lnTo>
                <a:lnTo>
                  <a:pt x="0" y="504468"/>
                </a:lnTo>
                <a:close/>
              </a:path>
            </a:pathLst>
          </a:custGeom>
          <a:gradFill rotWithShape="1">
            <a:gsLst>
              <a:gs pos="18000">
                <a:srgbClr val="035CAC">
                  <a:alpha val="100000"/>
                </a:srgbClr>
              </a:gs>
              <a:gs pos="100000">
                <a:srgbClr val="39A0FC">
                  <a:alpha val="100000"/>
                </a:srgbClr>
              </a:gs>
            </a:gsLst>
            <a:lin ang="1080000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4" name="Freeform 23"/>
          <p:cNvSpPr/>
          <p:nvPr userDrawn="1"/>
        </p:nvSpPr>
        <p:spPr>
          <a:xfrm rot="10800000" flipV="1">
            <a:off x="2565400" y="1041400"/>
            <a:ext cx="9617075" cy="576262"/>
          </a:xfrm>
          <a:custGeom>
            <a:avLst/>
            <a:gdLst/>
            <a:ahLst/>
            <a:cxnLst/>
            <a:rect l="l" t="t" r="r" b="b"/>
            <a:pathLst>
              <a:path w="9617075" h="576262">
                <a:moveTo>
                  <a:pt x="9617075" y="0"/>
                </a:moveTo>
                <a:lnTo>
                  <a:pt x="9479924" y="0"/>
                </a:lnTo>
                <a:lnTo>
                  <a:pt x="9020216" y="504468"/>
                </a:lnTo>
                <a:lnTo>
                  <a:pt x="7508380" y="504468"/>
                </a:lnTo>
                <a:lnTo>
                  <a:pt x="6356567" y="504468"/>
                </a:lnTo>
                <a:lnTo>
                  <a:pt x="6305768" y="504468"/>
                </a:lnTo>
                <a:lnTo>
                  <a:pt x="5780658" y="504468"/>
                </a:lnTo>
                <a:lnTo>
                  <a:pt x="5369207" y="504468"/>
                </a:lnTo>
                <a:lnTo>
                  <a:pt x="4772346" y="504468"/>
                </a:lnTo>
                <a:lnTo>
                  <a:pt x="4628844" y="504468"/>
                </a:lnTo>
                <a:lnTo>
                  <a:pt x="3857374" y="504468"/>
                </a:lnTo>
                <a:lnTo>
                  <a:pt x="3641485" y="504468"/>
                </a:lnTo>
                <a:lnTo>
                  <a:pt x="3044624" y="504468"/>
                </a:lnTo>
                <a:lnTo>
                  <a:pt x="2900492" y="504468"/>
                </a:lnTo>
                <a:lnTo>
                  <a:pt x="2705560" y="504468"/>
                </a:lnTo>
                <a:lnTo>
                  <a:pt x="2129649" y="504468"/>
                </a:lnTo>
                <a:lnTo>
                  <a:pt x="1236903" y="504468"/>
                </a:lnTo>
                <a:lnTo>
                  <a:pt x="1172768" y="504468"/>
                </a:lnTo>
                <a:lnTo>
                  <a:pt x="977835" y="504468"/>
                </a:lnTo>
                <a:lnTo>
                  <a:pt x="0" y="504468"/>
                </a:lnTo>
                <a:lnTo>
                  <a:pt x="0" y="576263"/>
                </a:lnTo>
                <a:lnTo>
                  <a:pt x="1049585" y="576263"/>
                </a:lnTo>
                <a:lnTo>
                  <a:pt x="1171501" y="576263"/>
                </a:lnTo>
                <a:lnTo>
                  <a:pt x="1193090" y="576263"/>
                </a:lnTo>
                <a:lnTo>
                  <a:pt x="1244517" y="576263"/>
                </a:lnTo>
                <a:lnTo>
                  <a:pt x="2201400" y="576263"/>
                </a:lnTo>
                <a:lnTo>
                  <a:pt x="2777310" y="576263"/>
                </a:lnTo>
                <a:lnTo>
                  <a:pt x="2972242" y="576263"/>
                </a:lnTo>
                <a:lnTo>
                  <a:pt x="3116374" y="576263"/>
                </a:lnTo>
                <a:lnTo>
                  <a:pt x="3713235" y="576263"/>
                </a:lnTo>
                <a:lnTo>
                  <a:pt x="3929123" y="576263"/>
                </a:lnTo>
                <a:lnTo>
                  <a:pt x="4700595" y="576263"/>
                </a:lnTo>
                <a:lnTo>
                  <a:pt x="4844097" y="576263"/>
                </a:lnTo>
                <a:lnTo>
                  <a:pt x="5440958" y="576263"/>
                </a:lnTo>
                <a:lnTo>
                  <a:pt x="5852409" y="576263"/>
                </a:lnTo>
                <a:lnTo>
                  <a:pt x="6305768" y="576263"/>
                </a:lnTo>
                <a:lnTo>
                  <a:pt x="6428317" y="576263"/>
                </a:lnTo>
                <a:lnTo>
                  <a:pt x="7580131" y="576263"/>
                </a:lnTo>
                <a:lnTo>
                  <a:pt x="9091964" y="576263"/>
                </a:lnTo>
                <a:close/>
              </a:path>
            </a:pathLst>
          </a:custGeom>
          <a:gradFill rotWithShape="1">
            <a:gsLst>
              <a:gs pos="18000">
                <a:srgbClr val="035CAC">
                  <a:alpha val="100000"/>
                </a:srgbClr>
              </a:gs>
              <a:gs pos="100000">
                <a:srgbClr val="39A0FC">
                  <a:alpha val="100000"/>
                </a:srgbClr>
              </a:gs>
            </a:gsLst>
            <a:lin ang="1080000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55" name="Picture 27"/>
          <p:cNvPicPr>
            <a:picLocks noChangeAspect="1"/>
          </p:cNvPicPr>
          <p:nvPr userDrawn="1"/>
        </p:nvPicPr>
        <p:blipFill>
          <a:blip r:embed="rId3"/>
          <a:srcRect/>
          <a:stretch>
            <a:fillRect/>
          </a:stretch>
        </p:blipFill>
        <p:spPr>
          <a:xfrm>
            <a:off x="8255000" y="330200"/>
            <a:ext cx="3454400" cy="4445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07" y="3751117"/>
            <a:ext cx="7321169" cy="811357"/>
          </a:xfrm>
        </p:spPr>
        <p:txBody>
          <a:bodyPr anchor="b">
            <a:normAutofit/>
          </a:bodyPr>
          <a:lstStyle>
            <a:lvl1pPr>
              <a:defRPr sz="40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07" y="4610028"/>
            <a:ext cx="7321169" cy="64755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666" y="258445"/>
            <a:ext cx="10515052" cy="1325563"/>
          </a:xfrm>
        </p:spPr>
        <p:txBody>
          <a:bodyPr>
            <a:normAutofit/>
          </a:bodyPr>
          <a:lstStyle>
            <a:lvl1pPr>
              <a:defRPr sz="24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666" y="1825625"/>
            <a:ext cx="518133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388" y="1825625"/>
            <a:ext cx="518133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44" y="365125"/>
            <a:ext cx="10515052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44" y="1744961"/>
            <a:ext cx="515751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44" y="2615609"/>
            <a:ext cx="515751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1879" y="1744961"/>
            <a:ext cx="518291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1879" y="2615609"/>
            <a:ext cx="518291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156" y="2766219"/>
            <a:ext cx="10515052" cy="1325563"/>
          </a:xfrm>
        </p:spPr>
        <p:txBody>
          <a:bodyPr>
            <a:normAutofit/>
          </a:bodyPr>
          <a:lstStyle>
            <a:lvl1pPr algn="ctr">
              <a:defRPr sz="48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13" y="127000"/>
            <a:ext cx="4164983" cy="1600200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3730" y="766354"/>
            <a:ext cx="5817072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793" y="2057400"/>
            <a:ext cx="4164983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3972" y="365125"/>
            <a:ext cx="1529236" cy="5811838"/>
          </a:xfrm>
        </p:spPr>
        <p:txBody>
          <a:bodyPr vert="eaVert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156" y="365125"/>
            <a:ext cx="8879496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156" y="551543"/>
            <a:ext cx="10515052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2" Type="http://schemas.openxmlformats.org/officeDocument/2006/relationships/theme" Target="../theme/theme1.xml"/><Relationship Id="rId21" Type="http://schemas.openxmlformats.org/officeDocument/2006/relationships/image" Target="../media/image2.png"/><Relationship Id="rId20" Type="http://schemas.openxmlformats.org/officeDocument/2006/relationships/image" Target="../media/image3.jpeg"/><Relationship Id="rId2" Type="http://schemas.openxmlformats.org/officeDocument/2006/relationships/slideLayout" Target="../slideLayouts/slideLayout2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156" y="365125"/>
            <a:ext cx="1051505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156" y="1825625"/>
            <a:ext cx="10515052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156" y="6356350"/>
            <a:ext cx="2743057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390" y="6356350"/>
            <a:ext cx="4114586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152" y="6356350"/>
            <a:ext cx="2743057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7" name="Picture 2"/>
          <p:cNvPicPr>
            <a:picLocks noChangeAspect="1"/>
          </p:cNvPicPr>
          <p:nvPr userDrawn="1"/>
        </p:nvPicPr>
        <p:blipFill>
          <a:blip r:embed="rId20">
            <a:alphaModFix amt="51000"/>
          </a:blip>
          <a:srcRect l="12264" t="25660" r="12264" b="641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8" name="AutoShape 3"/>
          <p:cNvSpPr/>
          <p:nvPr userDrawn="1"/>
        </p:nvSpPr>
        <p:spPr>
          <a:xfrm>
            <a:off x="0" y="-25400"/>
            <a:ext cx="12192000" cy="33274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FFFFFF">
                  <a:alpha val="10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Freeform 4"/>
          <p:cNvSpPr/>
          <p:nvPr userDrawn="1"/>
        </p:nvSpPr>
        <p:spPr>
          <a:xfrm>
            <a:off x="139700" y="25400"/>
            <a:ext cx="1181099" cy="630238"/>
          </a:xfrm>
          <a:custGeom>
            <a:avLst/>
            <a:gdLst/>
            <a:ahLst/>
            <a:cxnLst/>
            <a:rect l="l" t="t" r="r" b="b"/>
            <a:pathLst>
              <a:path w="1181099" h="630238">
                <a:moveTo>
                  <a:pt x="626160" y="0"/>
                </a:moveTo>
                <a:lnTo>
                  <a:pt x="1181099" y="0"/>
                </a:lnTo>
                <a:lnTo>
                  <a:pt x="546564" y="630238"/>
                </a:lnTo>
                <a:lnTo>
                  <a:pt x="0" y="630238"/>
                </a:lnTo>
                <a:close/>
              </a:path>
            </a:pathLst>
          </a:custGeom>
          <a:solidFill>
            <a:srgbClr val="39A0F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Freeform 5"/>
          <p:cNvSpPr/>
          <p:nvPr userDrawn="1"/>
        </p:nvSpPr>
        <p:spPr>
          <a:xfrm>
            <a:off x="139700" y="25400"/>
            <a:ext cx="1181070" cy="630286"/>
          </a:xfrm>
          <a:custGeom>
            <a:avLst/>
            <a:gdLst/>
            <a:ahLst/>
            <a:cxnLst/>
            <a:rect l="l" t="t" r="r" b="b"/>
            <a:pathLst>
              <a:path w="1181070" h="630286">
                <a:moveTo>
                  <a:pt x="626144" y="0"/>
                </a:moveTo>
                <a:lnTo>
                  <a:pt x="1181070" y="0"/>
                </a:lnTo>
                <a:lnTo>
                  <a:pt x="546550" y="630286"/>
                </a:lnTo>
                <a:lnTo>
                  <a:pt x="0" y="630286"/>
                </a:lnTo>
                <a:close/>
              </a:path>
            </a:pathLst>
          </a:custGeom>
          <a:gradFill rotWithShape="1">
            <a:gsLst>
              <a:gs pos="28999">
                <a:srgbClr val="024581">
                  <a:alpha val="100000"/>
                </a:srgbClr>
              </a:gs>
              <a:gs pos="56999">
                <a:srgbClr val="024581">
                  <a:alpha val="0"/>
                </a:srgbClr>
              </a:gs>
            </a:gsLst>
            <a:lin ang="270000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Freeform 6"/>
          <p:cNvSpPr/>
          <p:nvPr userDrawn="1"/>
        </p:nvSpPr>
        <p:spPr>
          <a:xfrm>
            <a:off x="0" y="-38100"/>
            <a:ext cx="2974975" cy="739775"/>
          </a:xfrm>
          <a:custGeom>
            <a:avLst/>
            <a:gdLst/>
            <a:ahLst/>
            <a:cxnLst/>
            <a:rect l="l" t="t" r="r" b="b"/>
            <a:pathLst>
              <a:path w="2974975" h="739775">
                <a:moveTo>
                  <a:pt x="0" y="0"/>
                </a:moveTo>
                <a:lnTo>
                  <a:pt x="2974975" y="0"/>
                </a:lnTo>
                <a:lnTo>
                  <a:pt x="2852475" y="121704"/>
                </a:lnTo>
                <a:lnTo>
                  <a:pt x="794817" y="121704"/>
                </a:lnTo>
                <a:lnTo>
                  <a:pt x="225863" y="739775"/>
                </a:lnTo>
                <a:lnTo>
                  <a:pt x="0" y="739775"/>
                </a:lnTo>
                <a:close/>
              </a:path>
            </a:pathLst>
          </a:custGeom>
          <a:solidFill>
            <a:srgbClr val="035CA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7"/>
          <p:cNvSpPr/>
          <p:nvPr userDrawn="1"/>
        </p:nvSpPr>
        <p:spPr>
          <a:xfrm flipV="1">
            <a:off x="0" y="-38100"/>
            <a:ext cx="393700" cy="393700"/>
          </a:xfrm>
          <a:prstGeom prst="rtTriangle">
            <a:avLst/>
          </a:prstGeom>
          <a:gradFill rotWithShape="0">
            <a:gsLst>
              <a:gs pos="0">
                <a:srgbClr val="FFFFFF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Freeform 8"/>
          <p:cNvSpPr/>
          <p:nvPr userDrawn="1"/>
        </p:nvSpPr>
        <p:spPr>
          <a:xfrm>
            <a:off x="0" y="-38100"/>
            <a:ext cx="606425" cy="252412"/>
          </a:xfrm>
          <a:custGeom>
            <a:avLst/>
            <a:gdLst/>
            <a:ahLst/>
            <a:cxnLst/>
            <a:rect l="l" t="t" r="r" b="b"/>
            <a:pathLst>
              <a:path w="606425" h="252412">
                <a:moveTo>
                  <a:pt x="0" y="0"/>
                </a:moveTo>
                <a:lnTo>
                  <a:pt x="606425" y="0"/>
                </a:lnTo>
                <a:lnTo>
                  <a:pt x="352259" y="252412"/>
                </a:lnTo>
                <a:lnTo>
                  <a:pt x="0" y="252412"/>
                </a:lnTo>
                <a:close/>
              </a:path>
            </a:pathLst>
          </a:custGeom>
          <a:gradFill rotWithShape="0">
            <a:gsLst>
              <a:gs pos="0">
                <a:srgbClr val="FFFFFF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Freeform 9"/>
          <p:cNvSpPr/>
          <p:nvPr userDrawn="1"/>
        </p:nvSpPr>
        <p:spPr>
          <a:xfrm>
            <a:off x="2032000" y="-38100"/>
            <a:ext cx="1012825" cy="555625"/>
          </a:xfrm>
          <a:custGeom>
            <a:avLst/>
            <a:gdLst/>
            <a:ahLst/>
            <a:cxnLst/>
            <a:rect l="l" t="t" r="r" b="b"/>
            <a:pathLst>
              <a:path w="1012825" h="555625">
                <a:moveTo>
                  <a:pt x="560114" y="0"/>
                </a:moveTo>
                <a:lnTo>
                  <a:pt x="746616" y="0"/>
                </a:lnTo>
                <a:lnTo>
                  <a:pt x="826323" y="0"/>
                </a:lnTo>
                <a:lnTo>
                  <a:pt x="1012825" y="0"/>
                </a:lnTo>
                <a:lnTo>
                  <a:pt x="452712" y="555625"/>
                </a:lnTo>
                <a:lnTo>
                  <a:pt x="266209" y="555625"/>
                </a:lnTo>
                <a:lnTo>
                  <a:pt x="186502" y="555625"/>
                </a:lnTo>
                <a:lnTo>
                  <a:pt x="0" y="555625"/>
                </a:lnTo>
                <a:close/>
              </a:path>
            </a:pathLst>
          </a:custGeom>
          <a:gradFill rotWithShape="0">
            <a:gsLst>
              <a:gs pos="0">
                <a:srgbClr val="035CAC">
                  <a:alpha val="15000"/>
                </a:srgbClr>
              </a:gs>
              <a:gs pos="100000">
                <a:srgbClr val="035CAC">
                  <a:alpha val="0"/>
                </a:srgbClr>
              </a:gs>
            </a:gsLst>
            <a:lin ang="540000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Freeform 10"/>
          <p:cNvSpPr/>
          <p:nvPr userDrawn="1"/>
        </p:nvSpPr>
        <p:spPr>
          <a:xfrm>
            <a:off x="2654300" y="-38100"/>
            <a:ext cx="671512" cy="447675"/>
          </a:xfrm>
          <a:custGeom>
            <a:avLst/>
            <a:gdLst/>
            <a:ahLst/>
            <a:cxnLst/>
            <a:rect l="l" t="t" r="r" b="b"/>
            <a:pathLst>
              <a:path w="671512" h="447675">
                <a:moveTo>
                  <a:pt x="450385" y="0"/>
                </a:moveTo>
                <a:lnTo>
                  <a:pt x="671512" y="0"/>
                </a:lnTo>
                <a:lnTo>
                  <a:pt x="221127" y="447675"/>
                </a:lnTo>
                <a:lnTo>
                  <a:pt x="0" y="447675"/>
                </a:lnTo>
                <a:close/>
              </a:path>
            </a:pathLst>
          </a:custGeom>
          <a:gradFill rotWithShape="0">
            <a:gsLst>
              <a:gs pos="0">
                <a:srgbClr val="035CAC">
                  <a:alpha val="15000"/>
                </a:srgbClr>
              </a:gs>
              <a:gs pos="100000">
                <a:srgbClr val="035CAC">
                  <a:alpha val="0"/>
                </a:srgbClr>
              </a:gs>
            </a:gsLst>
            <a:lin ang="540000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16" name="Connector 11"/>
          <p:cNvCxnSpPr/>
          <p:nvPr userDrawn="1"/>
        </p:nvCxnSpPr>
        <p:spPr>
          <a:xfrm>
            <a:off x="0" y="1016000"/>
            <a:ext cx="12192007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9D9D9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sp>
        <p:nvSpPr>
          <p:cNvPr id="17" name="AutoShape 12"/>
          <p:cNvSpPr/>
          <p:nvPr userDrawn="1"/>
        </p:nvSpPr>
        <p:spPr>
          <a:xfrm>
            <a:off x="11620500" y="774700"/>
            <a:ext cx="165100" cy="101600"/>
          </a:xfrm>
          <a:prstGeom prst="parallelogram">
            <a:avLst>
              <a:gd name="adj" fmla="val 25000"/>
            </a:avLst>
          </a:prstGeom>
          <a:solidFill>
            <a:srgbClr val="D9D9D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3"/>
          <p:cNvSpPr/>
          <p:nvPr userDrawn="1"/>
        </p:nvSpPr>
        <p:spPr>
          <a:xfrm>
            <a:off x="11455400" y="774700"/>
            <a:ext cx="165100" cy="101600"/>
          </a:xfrm>
          <a:prstGeom prst="parallelogram">
            <a:avLst>
              <a:gd name="adj" fmla="val 25000"/>
            </a:avLst>
          </a:prstGeom>
          <a:solidFill>
            <a:srgbClr val="035CA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9" name="AutoShape 14"/>
          <p:cNvSpPr/>
          <p:nvPr userDrawn="1"/>
        </p:nvSpPr>
        <p:spPr>
          <a:xfrm>
            <a:off x="11785600" y="774700"/>
            <a:ext cx="165100" cy="101600"/>
          </a:xfrm>
          <a:prstGeom prst="parallelogram">
            <a:avLst>
              <a:gd name="adj" fmla="val 25000"/>
            </a:avLst>
          </a:prstGeom>
          <a:solidFill>
            <a:srgbClr val="D9D9D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16"/>
          <p:cNvPicPr>
            <a:picLocks noChangeAspect="1"/>
          </p:cNvPicPr>
          <p:nvPr userDrawn="1"/>
        </p:nvPicPr>
        <p:blipFill>
          <a:blip r:embed="rId21"/>
          <a:srcRect/>
          <a:stretch>
            <a:fillRect/>
          </a:stretch>
        </p:blipFill>
        <p:spPr>
          <a:xfrm>
            <a:off x="9372600" y="406400"/>
            <a:ext cx="2590800" cy="3429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660"/>
            <a:ext cx="9779635" cy="1102360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3600"/>
              <a:t>穿透式监管对齐——财务与司库领域的先行先试</a:t>
            </a:r>
            <a:endParaRPr sz="360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marL="0" lvl="0" indent="0">
              <a:buNone/>
            </a:pPr>
            <a:r>
              <a:t>基于2026年国资委监管新要求的形势研判与行动方案</a:t>
            </a:r>
            <a:br/>
            <a:br/>
            <a:r>
              <a:t>A公司 · 汇报人 · 2026年8月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lvl="0" indent="0">
              <a:buNone/>
            </a:pPr>
            <a:r>
              <a:t>2026-08-06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目录页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1. 基础概念——什么是穿透式监管（5分钟）</a:t>
            </a:r>
          </a:p>
          <a:p>
            <a:pPr marL="0" lvl="0" indent="0">
              <a:buNone/>
            </a:pPr>
            <a:r>
              <a:t>2. 形势研判——2026年监管在干什么（6分钟）</a:t>
            </a:r>
          </a:p>
          <a:p>
            <a:pPr marL="0" lvl="0" indent="0">
              <a:buNone/>
            </a:pPr>
            <a:r>
              <a:t>3. 核心框架——五环问责链（5分钟）</a:t>
            </a:r>
          </a:p>
          <a:p>
            <a:pPr marL="0" lvl="0" indent="0">
              <a:buNone/>
            </a:pPr>
            <a:r>
              <a:t>4. A公司差距分析——财务+司库（8分钟）</a:t>
            </a:r>
          </a:p>
          <a:p>
            <a:pPr marL="0" lvl="0" indent="0">
              <a:buNone/>
            </a:pPr>
            <a:r>
              <a:t>5. 行动方案——分阶段对齐与提请决策（6分钟）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>
              <a:buNone/>
            </a:pPr>
            <a:r>
              <a:t>第一部分：基础概念（第1-5页）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开场——从一个故事说起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同一笔业务，两本账，差四千万——这就是监管要解决的问题。</a:t>
            </a:r>
          </a:p>
          <a:p>
            <a:pPr marL="0" lvl="0" indent="0">
              <a:buNone/>
            </a:pPr>
            <a:r>
              <a:rPr b="1"/>
              <a:t>要点</a:t>
            </a:r>
            <a:r>
              <a:t>： - 银行检查：不查报表，只推来两张纸</a:t>
            </a:r>
          </a:p>
          <a:p>
            <a:pPr marL="0" lvl="0" indent="0">
              <a:buNone/>
            </a:pPr>
            <a:r>
              <a:t>• 我们账上：对B银行存款8亿</a:t>
            </a:r>
          </a:p>
          <a:p>
            <a:pPr marL="0" lvl="0" indent="0">
              <a:buNone/>
            </a:pPr>
            <a:r>
              <a:t>• B银行上报：只有7亿6</a:t>
            </a:r>
          </a:p>
          <a:p>
            <a:pPr marL="0" lvl="0" indent="0">
              <a:buNone/>
            </a:pPr>
            <a:r>
              <a:t>• 传统报表监管下，差异淹没在口径里</a:t>
            </a:r>
          </a:p>
          <a:p>
            <a:pPr marL="0" lvl="0" indent="0">
              <a:buNone/>
            </a:pPr>
            <a:r>
              <a:t>• 逐笔明细铺开后，监管自己算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什么是”穿透式监管”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穿透式监管 = 监管直达你的原始数据，自己算、自己验、自己预警。</a:t>
            </a:r>
          </a:p>
          <a:p>
            <a:pPr marL="0" lvl="0" indent="0">
              <a:buNone/>
            </a:pPr>
            <a:r>
              <a:rPr b="1"/>
              <a:t>要点</a:t>
            </a:r>
            <a:r>
              <a:t>： - 核心比喻：汇总报表像”集团合并利润表”，穿透式监管像”逐笔业务明细账”</a:t>
            </a:r>
          </a:p>
          <a:p>
            <a:pPr marL="0" lvl="0" indent="0">
              <a:buNone/>
            </a:pPr>
            <a:r>
              <a:t>• 传统监管：企业报汇总数 → 监管看汇总数 → 有问题再查</a:t>
            </a:r>
          </a:p>
          <a:p>
            <a:pPr marL="0" lvl="0" indent="0">
              <a:buNone/>
            </a:pPr>
            <a:r>
              <a:t>• 穿透式监管：直达底层原始数据 → 系统自动交叉验证 → 异常自动预警</a:t>
            </a:r>
          </a:p>
          <a:p>
            <a:pPr marL="0" lvl="0" indent="0">
              <a:buNone/>
            </a:pPr>
            <a:r>
              <a:t>• 关键变化：从”你报什么我看什么”到”我自己算一遍”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marL="0" lvl="0" indent="0">
              <a:buNone/>
            </a:pPr>
            <a:r>
              <a:t>为什么要穿透——监管逻辑的三重转变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lvl="0" indent="0">
              <a:buNone/>
            </a:pPr>
            <a:r>
              <a:t>管结果 → 管过程、管实质、管全链条。</a:t>
            </a:r>
          </a:p>
          <a:p>
            <a:pPr marL="0" lvl="0" indent="0">
              <a:buNone/>
            </a:pPr>
            <a:r>
              <a:rPr b="1"/>
              <a:t>要点</a:t>
            </a:r>
            <a:r>
              <a:t>（表格）：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维度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过去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现在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数据来源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层层汇总报送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直达末梢子公司业务原始数据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监管时点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事后静态核查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事前预警、事中监控、事后追溯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监管对象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管结果（看报表数字）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管过程、管实质、管全链条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核心驱动力</a:t>
            </a:r>
            <a:r>
              <a:t>：大数据、AI、系统直连让”自己算”成为可能。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金融领域已经走了十年——三条时间线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这不是突然冒出来的新要求，而是监管演进的必然方向。</a:t>
            </a:r>
          </a:p>
          <a:p>
            <a:pPr marL="0" lvl="0" indent="0">
              <a:buNone/>
            </a:pPr>
            <a:r>
              <a:rPr b="1"/>
              <a:t>要点</a:t>
            </a:r>
            <a:r>
              <a:t>： - 内地EAST：2008年开建，已迭代至5.0；2020年8家银行被罚1770万，2022年21家被罚8760万</a:t>
            </a:r>
          </a:p>
          <a:p>
            <a:pPr marL="0" lvl="0" indent="0">
              <a:buNone/>
            </a:pPr>
            <a:r>
              <a:t>• 欧洲AnaCredit：2018年启动逐笔报送；IReF定档2031年正式报送</a:t>
            </a:r>
          </a:p>
          <a:p>
            <a:pPr marL="0" lvl="0" indent="0">
              <a:buNone/>
            </a:pPr>
            <a:r>
              <a:t>• 香港GDR 3.0：按2026-2031分三阶段推进</a:t>
            </a:r>
          </a:p>
          <a:p>
            <a:pPr marL="0" lvl="0" indent="0">
              <a:buNone/>
            </a:pPr>
            <a:r>
              <a:t>• 关键判断：金融监管走过的路，国资监管正在走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金融监管给国企的三个启示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双轨并行是常态、口径不一致是最大罚单来源、对齐只能熬出来。</a:t>
            </a:r>
          </a:p>
          <a:p>
            <a:pPr marL="0" lvl="0" indent="0">
              <a:buNone/>
            </a:pPr>
            <a:r>
              <a:rPr b="1"/>
              <a:t>要点</a:t>
            </a:r>
            <a:r>
              <a:t>： 1. “双轨并行”是常态：老报表不退休（1104照跑），明细数据是”验算系统”</a:t>
            </a:r>
          </a:p>
          <a:p>
            <a:pPr marL="0" lvl="0" indent="0">
              <a:buNone/>
            </a:pPr>
            <a:r>
              <a:t>1. “跨系统口径不一致”是最大罚单来源：同一个数，两个系统两种说法 → 直接触发预警</a:t>
            </a:r>
          </a:p>
          <a:p>
            <a:pPr marL="0" lvl="0" indent="0">
              <a:buNone/>
            </a:pPr>
            <a:r>
              <a:t>2. “对齐只能熬出来”：没有技术含量，只有体力含量——早做早主动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>
              <a:buNone/>
            </a:pPr>
            <a:r>
              <a:t>第二部分：形势研判（第6-10页）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2026年——穿透式监管的制度元年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国资委同日发布两份重磅文件，首次系统定义穿透式监管。</a:t>
            </a:r>
          </a:p>
          <a:p>
            <a:pPr marL="0" lvl="0" indent="0">
              <a:buNone/>
            </a:pPr>
            <a:r>
              <a:rPr b="1"/>
              <a:t>要点</a:t>
            </a:r>
            <a:r>
              <a:t>： - 1号文《关于推动中央企业加快财务数智化转型升级的指导意见》——明确”怎么干”</a:t>
            </a:r>
          </a:p>
          <a:p>
            <a:pPr marL="0" lvl="0" indent="0">
              <a:buNone/>
            </a:pPr>
            <a:r>
              <a:t>• 2号文《关于加强中央企业穿透式监管的指导意见（试行）》——明确”管什么”</a:t>
            </a:r>
          </a:p>
          <a:p>
            <a:pPr marL="0" lvl="0" indent="0">
              <a:buNone/>
            </a:pPr>
            <a:r>
              <a:t>• 这是国资监管领域首份专门针对穿透式监管的系统性指导文件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四份文件拼出完整闭环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搭框架 → 定标准 → 抓落地 → 追责任。</a:t>
            </a:r>
          </a:p>
          <a:p>
            <a:pPr marL="0" lvl="0" indent="0">
              <a:buNone/>
            </a:pPr>
            <a:r>
              <a:rPr b="1"/>
              <a:t>要点</a:t>
            </a:r>
            <a:r>
              <a:t>： 1. 1号文（1月）——搭框架：财务数智化转型方向</a:t>
            </a:r>
          </a:p>
          <a:p>
            <a:pPr marL="0" lvl="0" indent="0">
              <a:buNone/>
            </a:pPr>
            <a:r>
              <a:t>1. 2号文（1月）——定标准：“四全”标准与十大重点领域</a:t>
            </a:r>
          </a:p>
          <a:p>
            <a:pPr marL="0" lvl="0" indent="0">
              <a:buNone/>
            </a:pPr>
            <a:r>
              <a:t>2. 15号文（国资厅监督〔2026〕15号，3月）——抓落地：内控体系建设要求</a:t>
            </a:r>
          </a:p>
          <a:p>
            <a:pPr marL="0" lvl="0" indent="0">
              <a:buNone/>
            </a:pPr>
            <a:r>
              <a:t>3. 46号令（2026年1月1日施行）——追责任：追责情形72种扩至98种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2号文核心——四全穿透+十大领域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四全定标准，十大领域定范围，财务和资金排在前列。</a:t>
            </a:r>
          </a:p>
          <a:p>
            <a:pPr marL="0" lvl="0" indent="0">
              <a:buNone/>
            </a:pPr>
            <a:r>
              <a:rPr b="1"/>
              <a:t>要点</a:t>
            </a:r>
            <a:r>
              <a:t>： - 全级次：穿透至五级子公司、境外项目公司、SPV</a:t>
            </a:r>
          </a:p>
          <a:p>
            <a:pPr marL="0" lvl="0" indent="0">
              <a:buNone/>
            </a:pPr>
            <a:r>
              <a:t>• 全链条：从决策到执行到结果全程可溯</a:t>
            </a:r>
          </a:p>
          <a:p>
            <a:pPr marL="0" lvl="0" indent="0">
              <a:buNone/>
            </a:pPr>
            <a:r>
              <a:t>• 全过程：事前预警、事中监控、事后追溯</a:t>
            </a:r>
          </a:p>
          <a:p>
            <a:pPr marL="0" lvl="0" indent="0">
              <a:buNone/>
            </a:pPr>
            <a:r>
              <a:t>• 全要素：人、财、物、数据全覆盖</a:t>
            </a:r>
          </a:p>
          <a:p>
            <a:pPr marL="0" lvl="0" indent="0">
              <a:buNone/>
            </a:pPr>
            <a:r>
              <a:t>• 十大领域：产权、投资、</a:t>
            </a:r>
            <a:r>
              <a:rPr b="1"/>
              <a:t>财务</a:t>
            </a:r>
            <a:r>
              <a:t>、</a:t>
            </a:r>
            <a:r>
              <a:rPr b="1"/>
              <a:t>资金</a:t>
            </a:r>
            <a:r>
              <a:t>、薪酬、金融、采购、合同、境外、军品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技术载体——DRP系统建设时间表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财务领域是DRP建设第一站，2026年底是硬期限。</a:t>
            </a:r>
          </a:p>
          <a:p>
            <a:pPr marL="0" lvl="0" indent="0">
              <a:buNone/>
            </a:pPr>
            <a:r>
              <a:rPr b="1"/>
              <a:t>要点</a:t>
            </a:r>
            <a:r>
              <a:t>： - DRP：全域数字化资源管理平台，穿透式监管的技术底座</a:t>
            </a:r>
          </a:p>
          <a:p>
            <a:pPr marL="0" lvl="0" indent="0">
              <a:buNone/>
            </a:pPr>
            <a:r>
              <a:t>• 2026年底：完成财务领域系统建设与集成</a:t>
            </a:r>
          </a:p>
          <a:p>
            <a:pPr marL="0" lvl="0" indent="0">
              <a:buNone/>
            </a:pPr>
            <a:r>
              <a:t>• 2027年底：财务与投资、合同、人资等全面集成</a:t>
            </a:r>
          </a:p>
          <a:p>
            <a:pPr marL="0" lvl="0" indent="0">
              <a:buNone/>
            </a:pPr>
            <a:r>
              <a:t>• 2030年（“十五五”末）：所有中央企业基本建成DRP</a:t>
            </a:r>
          </a:p>
          <a:p>
            <a:pPr marL="0" lvl="0" indent="0">
              <a:buNone/>
            </a:pPr>
            <a:r>
              <a:t>• 核心逻辑：从”汇总指标监管”转向”直达业务底层原始数据”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46号令——问责加码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监管看得到，就追责追得到。</a:t>
            </a:r>
          </a:p>
          <a:p>
            <a:pPr marL="0" lvl="0" indent="0">
              <a:buNone/>
            </a:pPr>
            <a:r>
              <a:rPr b="1"/>
              <a:t>要点</a:t>
            </a:r>
            <a:r>
              <a:t>： - 2026年1月1日起施行</a:t>
            </a:r>
          </a:p>
          <a:p>
            <a:pPr marL="0" lvl="0" indent="0">
              <a:buNone/>
            </a:pPr>
            <a:r>
              <a:t>• 追责情形：11个方面72种 → 13个方面98种</a:t>
            </a:r>
          </a:p>
          <a:p>
            <a:pPr marL="0" lvl="0" indent="0">
              <a:buNone/>
            </a:pPr>
            <a:r>
              <a:t>• 新增金融业务、科技创新两大独立追责板块</a:t>
            </a:r>
          </a:p>
          <a:p>
            <a:pPr marL="0" lvl="0" indent="0">
              <a:buNone/>
            </a:pPr>
            <a:r>
              <a:t>• 重大决策终身问责；退休、调任、离职均不豁免</a:t>
            </a:r>
          </a:p>
          <a:p>
            <a:pPr marL="0" lvl="0" indent="0">
              <a:buNone/>
            </a:pPr>
            <a:r>
              <a:t>• 关键判断：穿透式监管发现的问题，将直接对接46号令追责程序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>
              <a:buNone/>
            </a:pPr>
            <a:r>
              <a:t>第三部分：核心框架（第11-14页）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欧央行”五环框架”——监管在查什么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监管的提问方式变了——“你管住了没、谁负责、证据呢？”</a:t>
            </a:r>
          </a:p>
          <a:p>
            <a:pPr marL="0" lvl="0" indent="0">
              <a:buNone/>
            </a:pPr>
            <a:r>
              <a:rPr b="1"/>
              <a:t>要点</a:t>
            </a:r>
            <a:r>
              <a:t>： - 来源：2026年2月24日欧央行演讲《技术是中立的，治理不是》</a:t>
            </a:r>
          </a:p>
          <a:p>
            <a:pPr marL="0" lvl="0" indent="0">
              <a:buNone/>
            </a:pPr>
            <a:r>
              <a:t>• 五环问责链：数据 → 决策 → 控制 → 证据 → 问责</a:t>
            </a:r>
          </a:p>
          <a:p>
            <a:pPr marL="0" lvl="0" indent="0">
              <a:buNone/>
            </a:pPr>
            <a:r>
              <a:t>• 数据环：经得起逐笔抽查——明细与汇总对得上吗</a:t>
            </a:r>
          </a:p>
          <a:p>
            <a:pPr marL="0" lvl="0" indent="0">
              <a:buNone/>
            </a:pPr>
            <a:r>
              <a:t>• 决策环：说得清一个输出怎么来的</a:t>
            </a:r>
          </a:p>
          <a:p>
            <a:pPr marL="0" lvl="0" indent="0">
              <a:buNone/>
            </a:pPr>
            <a:r>
              <a:t>• 控制环：立在事前，不是事后补查</a:t>
            </a:r>
          </a:p>
          <a:p>
            <a:pPr marL="0" lvl="0" indent="0">
              <a:buNone/>
            </a:pPr>
            <a:r>
              <a:t>• 证据环：拿得出指标，更拿得出过程</a:t>
            </a:r>
          </a:p>
          <a:p>
            <a:pPr marL="0" lvl="0" indent="0">
              <a:buNone/>
            </a:pPr>
            <a:r>
              <a:t>• 问责环：机器可以起草，签字必须是人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marL="0" lvl="0" indent="0">
              <a:buNone/>
            </a:pPr>
            <a:r>
              <a:t>五环框架 × 财务领域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lvl="0" indent="0">
              <a:buNone/>
            </a:pPr>
            <a:r>
              <a:t>每一环对应财务领域一个具体问题。</a:t>
            </a:r>
          </a:p>
          <a:p>
            <a:pPr marL="0" lvl="0" indent="0">
              <a:buNone/>
            </a:pPr>
            <a:r>
              <a:rPr b="1"/>
              <a:t>要点</a:t>
            </a:r>
            <a:r>
              <a:t>（表格）：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环节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财务领域含义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监管关注点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数据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来源可溯、口径统一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合并报表与子公司明细能否对上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决策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决策过程留痕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重大财务事项谁决策、依据什么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控制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规则前置在系统中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预算有没有超、报销合不合规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证据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流程完整记录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审批流、修改日志是否可查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问责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责任落实到人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数据出问题谁承担责任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marL="0" lvl="0" indent="0">
              <a:buNone/>
            </a:pPr>
            <a:r>
              <a:t>五环框架 × 司库（资金）领域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lvl="0" indent="0">
              <a:buNone/>
            </a:pPr>
            <a:r>
              <a:t>资金全量可视、全程可溯、责任到人。</a:t>
            </a:r>
          </a:p>
          <a:p>
            <a:pPr marL="0" lvl="0" indent="0">
              <a:buNone/>
            </a:pPr>
            <a:r>
              <a:rPr b="1"/>
              <a:t>要点</a:t>
            </a:r>
            <a:r>
              <a:t>（表格）：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环节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司库领域含义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监管关注点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数据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资金数据全量可视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所有账户、流水是否都在系统里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决策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调度决策留痕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大额调动谁批的、依据什么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控制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规则前置拦截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付款有没有超授权、有没有预算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证据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流转全程可溯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每笔钱从哪来到哪去是否可查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问责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安全责任到人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资金出事谁负第一责任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为什么从财务+司库开始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时间最紧、关注最高、数据基础最成熟——这是”最小可行产品”。</a:t>
            </a:r>
          </a:p>
          <a:p>
            <a:pPr marL="0" lvl="0" indent="0">
              <a:buNone/>
            </a:pPr>
            <a:r>
              <a:rPr b="1"/>
              <a:t>要点</a:t>
            </a:r>
            <a:r>
              <a:t>： 1. 政策时间最紧：2026年底完成财务领域DRP建设——距现在不到5个月</a:t>
            </a:r>
          </a:p>
          <a:p>
            <a:pPr marL="0" lvl="0" indent="0">
              <a:buNone/>
            </a:pPr>
            <a:r>
              <a:t>1. 监管关注最高：财务与资金位列十大重点领域前四</a:t>
            </a:r>
          </a:p>
          <a:p>
            <a:pPr marL="0" lvl="0" indent="0">
              <a:buNone/>
            </a:pPr>
            <a:r>
              <a:t>2. 数据基础最成熟：数据化程度相对最高，最容易出成效</a:t>
            </a:r>
          </a:p>
          <a:p>
            <a:pPr marL="0" lvl="0" indent="0">
              <a:buNone/>
            </a:pPr>
            <a:r>
              <a:t>• 先行先试、跑通再推广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>
              <a:buNone/>
            </a:pPr>
            <a:r>
              <a:t>第四部分：A公司差距分析（第15-20页）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A公司信息化现状概览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系统是散的、数据是乱的、流程是断的。</a:t>
            </a:r>
          </a:p>
          <a:p>
            <a:pPr marL="0" lvl="0" indent="0">
              <a:buNone/>
            </a:pPr>
            <a:r>
              <a:rPr b="1"/>
              <a:t>要点</a:t>
            </a:r>
            <a:r>
              <a:t>： - 多套异构财务系统并存（历史原因）</a:t>
            </a:r>
          </a:p>
          <a:p>
            <a:pPr marL="0" lvl="0" indent="0">
              <a:buNone/>
            </a:pPr>
            <a:r>
              <a:t>• 数据标准不统一（科目体系、客商编码各有一套）</a:t>
            </a:r>
          </a:p>
          <a:p>
            <a:pPr marL="0" lvl="0" indent="0">
              <a:buNone/>
            </a:pPr>
            <a:r>
              <a:t>• 核心业务系统未打通（财务、合同、采购、资金各成孤岛）</a:t>
            </a:r>
          </a:p>
          <a:p>
            <a:pPr marL="0" lvl="0" indent="0">
              <a:buNone/>
            </a:pPr>
            <a:r>
              <a:t>• 司库系统建设滞后（未实现全集团资金集中管理）</a:t>
            </a:r>
          </a:p>
          <a:p>
            <a:pPr marL="0" lvl="0" indent="0">
              <a:buNone/>
            </a:pPr>
            <a:r>
              <a:t>• 手工报表占比高（部分子公司依赖Excel汇总）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marL="0" lvl="0" indent="0">
              <a:buNone/>
            </a:pPr>
            <a:r>
              <a:t>财务领域差距——数据环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lvl="0" indent="0">
              <a:buNone/>
            </a:pPr>
            <a:r>
              <a:t>DRP上线后，合并报表与子公司明细”对不上”将直接触发预警。</a:t>
            </a:r>
          </a:p>
          <a:p>
            <a:pPr marL="0" lvl="0" indent="0">
              <a:buNone/>
            </a:pPr>
            <a:r>
              <a:rPr b="1"/>
              <a:t>要点</a:t>
            </a:r>
            <a:r>
              <a:t>（表格）：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评估项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现状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差距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全级次覆盖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主要覆盖二级子公司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未达”全级次”标准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数据口径统一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多套科目体系并存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无统一数据标准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明细可溯源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合并报表与明细靠人工核对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无法自动穿透验证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跨系统一致性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财务、合同、采购口径不一致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跨系统不一致风险高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marL="0" lvl="0" indent="0">
              <a:buNone/>
            </a:pPr>
            <a:r>
              <a:t>财务领域差距——决策+控制+证据+问责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lvl="0" indent="0">
              <a:buNone/>
            </a:pPr>
            <a:r>
              <a:t>四环皆弱，决策留痕、控制前置、证据、问责都有缺口。</a:t>
            </a:r>
          </a:p>
          <a:p>
            <a:pPr marL="0" lvl="0" indent="0">
              <a:buNone/>
            </a:pPr>
            <a:r>
              <a:rPr b="1"/>
              <a:t>要点</a:t>
            </a:r>
            <a:r>
              <a:t>（表格）：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1270000"/>
                <a:gridCol w="1270000"/>
                <a:gridCol w="1270000"/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环节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监管要求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现状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差距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决策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重大决策线上留痕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部分在线、部分线下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决策过程不可完全追溯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控制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规则前置、自动校验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预算控制靠人工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无系统化事前拦截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证据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全流程日志可查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系统日志不完整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过程证据缺失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问责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责任落实到人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财务责任界定模糊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问责链条不清晰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marL="0" lvl="0" indent="0">
              <a:buNone/>
            </a:pPr>
            <a:r>
              <a:t>司库（资金）领域差距分析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lvl="0" indent="0">
              <a:buNone/>
            </a:pPr>
            <a:r>
              <a:t>司库过不了关，穿透式监管就过不了关。</a:t>
            </a:r>
          </a:p>
          <a:p>
            <a:pPr marL="0" lvl="0" indent="0">
              <a:buNone/>
            </a:pPr>
            <a:r>
              <a:rPr b="1"/>
              <a:t>要点</a:t>
            </a:r>
            <a:r>
              <a:t>（表格）：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评估项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现状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差距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账户可视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部分账户未纳入集团监控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资金”看得见”不完整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资金归集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归集率偏低、分散管理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未实现”管得住”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银企直连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少数银行直连、多数未覆盖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数据无法实时获取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支付管控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大额支付靠人工审批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无系统化事前拦截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资金流水可溯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依赖手工报表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无法自动穿透溯源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marL="0" lvl="0" indent="0">
              <a:buNone/>
            </a:pPr>
            <a:r>
              <a:t>综合评估——五环得分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lvl="0" indent="0">
              <a:buNone/>
            </a:pPr>
            <a:r>
              <a:t>五环皆弱，数据环最弱——数据是基础，必须先补。</a:t>
            </a:r>
          </a:p>
          <a:p>
            <a:pPr marL="0" lvl="0" indent="0">
              <a:buNone/>
            </a:pPr>
            <a:r>
              <a:rPr b="1"/>
              <a:t>要点</a:t>
            </a:r>
            <a:r>
              <a:t>（表格）：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维度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评分（1-5）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核心短板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数据环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★★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无统一数据标准、跨系统口径不一致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决策环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★★☆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部分流程在线，留痕不完整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控制环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★★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缺乏事前规则引擎，主要靠人工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证据环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★★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日志不完整、过程证据缺失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问责环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★★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责任界定模糊、未对接46号令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差距总结——三个”最紧迫”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不是”要不要做”，是”什么时候做”——晚做不如早做。</a:t>
            </a:r>
          </a:p>
          <a:p>
            <a:pPr marL="0" lvl="0" indent="0">
              <a:buNone/>
            </a:pPr>
            <a:r>
              <a:rPr b="1"/>
              <a:t>要点</a:t>
            </a:r>
            <a:r>
              <a:t>： 1. 最紧迫的风险：数据口径不统一、资金不可视——DRP一上线就暴露在监管视野中</a:t>
            </a:r>
          </a:p>
          <a:p>
            <a:pPr marL="0" lvl="0" indent="0">
              <a:buNone/>
            </a:pPr>
            <a:r>
              <a:t>1. 最紧迫的时间：2026年底完成财务领域DRP建设——不到5个月</a:t>
            </a:r>
          </a:p>
          <a:p>
            <a:pPr marL="0" lvl="0" indent="0">
              <a:buNone/>
            </a:pPr>
            <a:r>
              <a:t>2. 最紧迫的成本：银行数据质量罚款累计过亿——不主动对齐同样面临追责风险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>
              <a:buNone/>
            </a:pPr>
            <a:r>
              <a:t>第五部分：行动方案（第21-25页）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对齐思路——分阶段、抓重点、先止血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先止血、再治病、后强身。</a:t>
            </a:r>
          </a:p>
          <a:p>
            <a:pPr marL="0" lvl="0" indent="0">
              <a:buNone/>
            </a:pPr>
            <a:r>
              <a:rPr b="1"/>
              <a:t>要点</a:t>
            </a:r>
            <a:r>
              <a:t>： - 先止血：优先解决最容易被监管”抓现行”的问题（数据口径、资金可视）</a:t>
            </a:r>
          </a:p>
          <a:p>
            <a:pPr marL="0" lvl="0" indent="0">
              <a:buNone/>
            </a:pPr>
            <a:r>
              <a:t>• 再治病：系统化建设五环能力</a:t>
            </a:r>
          </a:p>
          <a:p>
            <a:pPr marL="0" lvl="0" indent="0">
              <a:buNone/>
            </a:pPr>
            <a:r>
              <a:t>• 后强身：全面对齐穿透式监管要求</a:t>
            </a:r>
          </a:p>
          <a:p>
            <a:pPr marL="0" lvl="0" indent="0">
              <a:buNone/>
            </a:pPr>
            <a:r>
              <a:t>• 第一阶段（2026.8-12）：财务+司库”止血”</a:t>
            </a:r>
          </a:p>
          <a:p>
            <a:pPr marL="0" lvl="0" indent="0">
              <a:buNone/>
            </a:pPr>
            <a:r>
              <a:t>• 第二阶段（2027.1-12）：五环能力系统建设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marL="0" lvl="0" indent="0">
              <a:buNone/>
            </a:pPr>
            <a:r>
              <a:t>第一阶段任务——财务领域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lvl="0" indent="0">
              <a:buNone/>
            </a:pPr>
            <a:r>
              <a:t>2026年底，财务数据实现”看得清、对得上、可溯源”。</a:t>
            </a:r>
          </a:p>
          <a:p>
            <a:pPr marL="0" lvl="0" indent="0">
              <a:buNone/>
            </a:pPr>
            <a:r>
              <a:rPr b="1"/>
              <a:t>要点</a:t>
            </a:r>
            <a:r>
              <a:t>（表格）：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1270000"/>
                <a:gridCol w="1270000"/>
                <a:gridCol w="1270000"/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序号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任务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内容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时限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统一科目体系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全集团统一会计科目、客商编码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2026年9月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打通异构系统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各子公司财务系统数据接口标准化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2026年10月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建立数据映射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建立各系统间数据映射关系表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2026年11月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上线对账平台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合并报表与子公司明细自动核对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2026年12月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marL="0" lvl="0" indent="0">
              <a:buNone/>
            </a:pPr>
            <a:r>
              <a:t>第一阶段任务——司库领域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lvl="0" indent="0">
              <a:buNone/>
            </a:pPr>
            <a:r>
              <a:t>2026年底，资金实现”看得见、管得住、可追溯”。</a:t>
            </a:r>
          </a:p>
          <a:p>
            <a:pPr marL="0" lvl="0" indent="0">
              <a:buNone/>
            </a:pPr>
            <a:r>
              <a:rPr b="1"/>
              <a:t>要点</a:t>
            </a:r>
            <a:r>
              <a:t>（表格）：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1270000"/>
                <a:gridCol w="1270000"/>
                <a:gridCol w="1270000"/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序号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任务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内容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时限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账户全面清理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全集团银行账户登记造册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2026年9月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扩大银企直连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主要合作银行全部直连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2026年10月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搭建资金可视平台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账户余额、流水实时可视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2026年11月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建立支付拦截规则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大额、超预算支付自动校验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2026年12月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组织保障与资源需求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穿透式监管体系建设是”一把手”工程。</a:t>
            </a:r>
          </a:p>
          <a:p>
            <a:pPr marL="0" lvl="0" indent="0">
              <a:buNone/>
            </a:pPr>
            <a:r>
              <a:rPr b="1"/>
              <a:t>要点</a:t>
            </a:r>
            <a:r>
              <a:t>： - 成立穿透式监管对齐专项工作组，分管领导任组长</a:t>
            </a:r>
          </a:p>
          <a:p>
            <a:pPr marL="0" lvl="0" indent="0">
              <a:buNone/>
            </a:pPr>
            <a:r>
              <a:t>• 财务部门牵头，科技、审计、各子公司协同</a:t>
            </a:r>
          </a:p>
          <a:p>
            <a:pPr marL="0" lvl="0" indent="0">
              <a:buNone/>
            </a:pPr>
            <a:r>
              <a:t>• “一把手”亲自部署</a:t>
            </a:r>
          </a:p>
          <a:p>
            <a:pPr marL="0" lvl="0" indent="0">
              <a:buNone/>
            </a:pPr>
            <a:r>
              <a:t>• 资源需求：系统改造/接口开发费用、外部咨询（如需）、专项团队人力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提请管理层决策事项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三项审议事项，请各位领导定夺。</a:t>
            </a:r>
          </a:p>
          <a:p>
            <a:pPr marL="0" lvl="0" indent="0">
              <a:buNone/>
            </a:pPr>
            <a:r>
              <a:rPr b="1"/>
              <a:t>要点</a:t>
            </a:r>
            <a:r>
              <a:t>： 1. 是否同意按”先财务+司库、再全面推广”的优先级推进？</a:t>
            </a:r>
          </a:p>
          <a:p>
            <a:pPr marL="0" lvl="0" indent="0">
              <a:buNone/>
            </a:pPr>
            <a:r>
              <a:t>1. 是否批准成立穿透式监管对齐专项工作组，明确牵头部门与时间表？</a:t>
            </a:r>
          </a:p>
          <a:p>
            <a:pPr marL="0" lvl="0" indent="0">
              <a:buNone/>
            </a:pPr>
            <a:r>
              <a:t>2. 是否批准启动第一阶段（2026年8-12月）财务+司库对齐工作？</a:t>
            </a:r>
          </a:p>
          <a:p>
            <a:pPr marL="0" lvl="0" indent="0">
              <a:buNone/>
            </a:pPr>
            <a:r>
              <a:t>3. 其他需管理层明确的事项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结尾页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一句话</a:t>
            </a:r>
            <a:r>
              <a:t>：晚做不如早做，被动做不如主动做。</a:t>
            </a:r>
          </a:p>
          <a:p>
            <a:pPr marL="0" lvl="0" indent="0">
              <a:buNone/>
            </a:pPr>
            <a:r>
              <a:rPr b="1"/>
              <a:t>要点</a:t>
            </a:r>
            <a:r>
              <a:t>： - 监管的今天已经到来，对齐的窗口正在收窄</a:t>
            </a:r>
          </a:p>
          <a:p>
            <a:pPr marL="0" lvl="0" indent="0">
              <a:buNone/>
            </a:pPr>
            <a:r>
              <a:t>• 财务+司库先行，五环能力逐步补全</a:t>
            </a:r>
          </a:p>
          <a:p>
            <a:pPr marL="0" lvl="0" indent="0">
              <a:buNone/>
            </a:pPr>
            <a:r>
              <a:t>• 请各位领导审议支持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自定义设计方案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4292</Words>
  <Application>WPS 演示</Application>
  <PresentationFormat/>
  <Paragraphs>530</Paragraphs>
  <Slides>34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34</vt:i4>
      </vt:variant>
    </vt:vector>
  </HeadingPairs>
  <TitlesOfParts>
    <vt:vector size="45" baseType="lpstr">
      <vt:lpstr>Arial</vt:lpstr>
      <vt:lpstr>宋体</vt:lpstr>
      <vt:lpstr>Wingdings</vt:lpstr>
      <vt:lpstr>Arial</vt:lpstr>
      <vt:lpstr>方正小标宋简体</vt:lpstr>
      <vt:lpstr>Calibri</vt:lpstr>
      <vt:lpstr>微软雅黑</vt:lpstr>
      <vt:lpstr>Arial Unicode MS</vt:lpstr>
      <vt:lpstr>Calibri Light</vt:lpstr>
      <vt:lpstr>Noto Sans SC</vt:lpstr>
      <vt:lpstr>自定义设计方案</vt:lpstr>
      <vt:lpstr>穿透式监管对齐——财务与司库领域的先行先试</vt:lpstr>
      <vt:lpstr>目录页</vt:lpstr>
      <vt:lpstr>第一部分：基础概念（第1-5页）</vt:lpstr>
      <vt:lpstr>开场——从一个故事说起</vt:lpstr>
      <vt:lpstr>什么是”穿透式监管”</vt:lpstr>
      <vt:lpstr>为什么要穿透——监管逻辑的三重转变</vt:lpstr>
      <vt:lpstr>PowerPoint 演示文稿</vt:lpstr>
      <vt:lpstr>金融领域已经走了十年——三条时间线</vt:lpstr>
      <vt:lpstr>金融监管给国企的三个启示</vt:lpstr>
      <vt:lpstr>第二部分：形势研判（第6-10页）</vt:lpstr>
      <vt:lpstr>2026年——穿透式监管的制度元年</vt:lpstr>
      <vt:lpstr>四份文件拼出完整闭环</vt:lpstr>
      <vt:lpstr>2号文核心——四全穿透+十大领域</vt:lpstr>
      <vt:lpstr>技术载体——DRP系统建设时间表</vt:lpstr>
      <vt:lpstr>46号令——问责加码</vt:lpstr>
      <vt:lpstr>第三部分：核心框架（第11-14页）</vt:lpstr>
      <vt:lpstr>欧央行”五环框架”——监管在查什么</vt:lpstr>
      <vt:lpstr>五环框架 × 财务领域</vt:lpstr>
      <vt:lpstr>五环框架 × 司库（资金）领域</vt:lpstr>
      <vt:lpstr>为什么从财务+司库开始</vt:lpstr>
      <vt:lpstr>第四部分：A公司差距分析（第15-20页）</vt:lpstr>
      <vt:lpstr>A公司信息化现状概览</vt:lpstr>
      <vt:lpstr>财务领域差距——数据环</vt:lpstr>
      <vt:lpstr>财务领域差距——决策+控制+证据+问责</vt:lpstr>
      <vt:lpstr>司库（资金）领域差距分析</vt:lpstr>
      <vt:lpstr>综合评估——五环得分</vt:lpstr>
      <vt:lpstr>差距总结——三个”最紧迫”</vt:lpstr>
      <vt:lpstr>第五部分：行动方案（第21-25页）</vt:lpstr>
      <vt:lpstr>对齐思路——分阶段、抓重点、先止血</vt:lpstr>
      <vt:lpstr>第一阶段任务——财务领域</vt:lpstr>
      <vt:lpstr>第一阶段任务——司库领域</vt:lpstr>
      <vt:lpstr>组织保障与资源需求</vt:lpstr>
      <vt:lpstr>提请管理层决策事项</vt:lpstr>
      <vt:lpstr>结尾页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穿透式监管对齐——财务与司库领域的先行先试</dc:title>
  <dc:creator>A公司 · 汇报人 · 2026年8月</dc:creator>
  <cp:lastModifiedBy>XY</cp:lastModifiedBy>
  <cp:revision>4</cp:revision>
  <dcterms:created xsi:type="dcterms:W3CDTF">2026-08-07T02:45:21Z</dcterms:created>
  <dcterms:modified xsi:type="dcterms:W3CDTF">2026-08-07T02:45:21Z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2026-08-06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revealjs-plugins">
    <vt:lpwstr/>
  </property>
  <property fmtid="{D5CDD505-2E9C-101B-9397-08002B2CF9AE}" pid="11" name="subtitle">
    <vt:lpwstr>基于2026年国资委监管新要求的形势研判与行动方案</vt:lpwstr>
  </property>
  <property fmtid="{D5CDD505-2E9C-101B-9397-08002B2CF9AE}" pid="12" name="toc-title">
    <vt:lpwstr>Table of contents</vt:lpwstr>
  </property>
  <property fmtid="{D5CDD505-2E9C-101B-9397-08002B2CF9AE}" pid="13" name="ICV">
    <vt:lpwstr>AE938846895FAB43DE45756A9A92C316_42</vt:lpwstr>
  </property>
  <property fmtid="{D5CDD505-2E9C-101B-9397-08002B2CF9AE}" pid="14" name="KSOProductBuildVer">
    <vt:lpwstr>2052-12.1.2.25882</vt:lpwstr>
  </property>
</Properties>
</file>